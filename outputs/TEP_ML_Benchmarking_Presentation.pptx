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Benchmarking ML Anomaly Detection Methods</a:t>
            </a:r>
            <a:br/>
            <a:r>
              <a:t>on the Tennessee Eastman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Sunshine, Lyu, Botcha, Kulkarni, Pagaria, Alves, Kitchin</a:t>
            </a:r>
            <a:br/>
            <a:r>
              <a:t>Department of Chemical Engineering, Carnegie Mellon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Industrial processes require reliable fault detection and diagnosis (FDD)</a:t>
            </a:r>
          </a:p>
          <a:p>
            <a:pPr>
              <a:spcAft>
                <a:spcPts val="1200"/>
              </a:spcAft>
              <a:defRPr sz="2200"/>
            </a:pPr>
            <a:r>
              <a:t>• Early fault detection prevents equipment damage, safety hazards, and costly downtime</a:t>
            </a:r>
          </a:p>
          <a:p>
            <a:pPr>
              <a:spcAft>
                <a:spcPts val="1200"/>
              </a:spcAft>
              <a:defRPr sz="2200"/>
            </a:pPr>
            <a:r>
              <a:t>• Tennessee Eastman Process (TEP) is a widely-used benchmark in process control</a:t>
            </a:r>
          </a:p>
          <a:p>
            <a:pPr>
              <a:spcAft>
                <a:spcPts val="1200"/>
              </a:spcAft>
              <a:defRPr sz="2200"/>
            </a:pPr>
            <a:r>
              <a:t>• Many ML methods proposed, but fair comparison is challenging: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- Different dataset splits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- Varying evaluation metrics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    - No standardized benchmark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Create a rigorous, reproducible benchmark for ML-based fault detection</a:t>
            </a:r>
          </a:p>
          <a:p>
            <a:pPr>
              <a:spcAft>
                <a:spcPts val="1200"/>
              </a:spcAft>
              <a:defRPr sz="2200"/>
            </a:pPr>
            <a:r>
              <a:t>• Compare classical ML (XGBoost) vs. deep learning approaches</a:t>
            </a:r>
          </a:p>
          <a:p>
            <a:pPr>
              <a:spcAft>
                <a:spcPts val="1200"/>
              </a:spcAft>
              <a:defRPr sz="2200"/>
            </a:pPr>
            <a:r>
              <a:t>• Evaluate supervised multiclass classification and unsupervised anomaly detection</a:t>
            </a:r>
          </a:p>
          <a:p>
            <a:pPr>
              <a:spcAft>
                <a:spcPts val="1200"/>
              </a:spcAft>
              <a:defRPr sz="2200"/>
            </a:pPr>
            <a:r>
              <a:t>• Test temporal post-processing methods (HMM filtering)</a:t>
            </a:r>
          </a:p>
          <a:p>
            <a:pPr>
              <a:spcAft>
                <a:spcPts val="1200"/>
              </a:spcAft>
              <a:defRPr sz="2200"/>
            </a:pPr>
            <a:r>
              <a:t>• Assess generalization to new, unseen process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Tennessee Eastman Process (TEP)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Realistic simulation of a chemical plant with 5 major unit operations</a:t>
            </a:r>
          </a:p>
          <a:p>
            <a:pPr>
              <a:spcAft>
                <a:spcPts val="1200"/>
              </a:spcAft>
              <a:defRPr sz="2200"/>
            </a:pPr>
            <a:r>
              <a:t>• 52 process variables: 41 measurements + 11 manipulated variables</a:t>
            </a:r>
          </a:p>
          <a:p>
            <a:pPr>
              <a:spcAft>
                <a:spcPts val="1200"/>
              </a:spcAft>
              <a:defRPr sz="2200"/>
            </a:pPr>
            <a:r>
              <a:t>• 17 fault types included (3 subtle faults excluded: 3, 9, 15)</a:t>
            </a:r>
          </a:p>
          <a:p>
            <a:pPr>
              <a:spcAft>
                <a:spcPts val="1200"/>
              </a:spcAft>
              <a:defRPr sz="2200"/>
            </a:pPr>
            <a:r>
              <a:t>• Fault types include: step changes, random variations, slow drifts, sticking valves</a:t>
            </a:r>
          </a:p>
          <a:p>
            <a:pPr>
              <a:spcAft>
                <a:spcPts val="1200"/>
              </a:spcAft>
              <a:defRPr sz="2200"/>
            </a:pPr>
            <a:r>
              <a:t>• Data from Harvard Dataverse (Rieth et al., 2017)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Dataset Construction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12801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Multiclass Train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864,000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Model training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Multiclass 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Hyperparameter tuning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Multiclass Test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2,880,000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Performance evaluation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Binary 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 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Autoencoder training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Binary Test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795,200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Anomaly detection eval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Dataset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Perfectly balanced classes (standard deviation = 0.00)</a:t>
            </a:r>
          </a:p>
          <a:p>
            <a:pPr>
              <a:spcAft>
                <a:spcPts val="1200"/>
              </a:spcAft>
              <a:defRPr sz="2200"/>
            </a:pPr>
            <a:r>
              <a:t>• Zero data leakage: train/test from independent simulation runs</a:t>
            </a:r>
          </a:p>
          <a:p>
            <a:pPr>
              <a:spcAft>
                <a:spcPts val="1200"/>
              </a:spcAft>
              <a:defRPr sz="2200"/>
            </a:pPr>
            <a:r>
              <a:t>• Different fault introduction times (sample 21 vs 161)</a:t>
            </a:r>
          </a:p>
          <a:p>
            <a:pPr>
              <a:spcAft>
                <a:spcPts val="1200"/>
              </a:spcAft>
              <a:defRPr sz="2200"/>
            </a:pPr>
            <a:r>
              <a:t>• Strong statistical power: 95% CI width = +/-0.5%</a:t>
            </a:r>
          </a:p>
          <a:p>
            <a:pPr>
              <a:spcAft>
                <a:spcPts val="1200"/>
              </a:spcAft>
              <a:defRPr sz="2200"/>
            </a:pPr>
            <a:r>
              <a:t>• 160,000 test samples per class (160x larger than MNIST per class)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Models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Supervised Multiclass:</a:t>
            </a:r>
          </a:p>
          <a:p>
            <a:pPr>
              <a:spcAft>
                <a:spcPts val="800"/>
              </a:spcAft>
              <a:defRPr sz="1800"/>
            </a:pPr>
            <a:r>
              <a:t>•   XGBoost (gradient boosting)</a:t>
            </a:r>
          </a:p>
          <a:p>
            <a:pPr>
              <a:spcAft>
                <a:spcPts val="800"/>
              </a:spcAft>
              <a:defRPr sz="1800"/>
            </a:pPr>
            <a:r>
              <a:t>•   LSTM (recurrent network)</a:t>
            </a:r>
          </a:p>
          <a:p>
            <a:pPr>
              <a:spcAft>
                <a:spcPts val="800"/>
              </a:spcAft>
              <a:defRPr sz="1800"/>
            </a:pPr>
            <a:r>
              <a:t>•   LSTM-FCN (LSTM + 1D CNN)</a:t>
            </a:r>
          </a:p>
          <a:p>
            <a:pPr>
              <a:spcAft>
                <a:spcPts val="800"/>
              </a:spcAft>
              <a:defRPr sz="1800"/>
            </a:pPr>
            <a:r>
              <a:t>•   CNN-Transformer (attention)</a:t>
            </a:r>
          </a:p>
          <a:p>
            <a:pPr>
              <a:spcAft>
                <a:spcPts val="800"/>
              </a:spcAft>
              <a:defRPr sz="1800"/>
            </a:pPr>
            <a:r>
              <a:t>•   TransKal (Transformer + Kalman)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Unsupervised Binary:</a:t>
            </a:r>
          </a:p>
          <a:p>
            <a:pPr>
              <a:spcAft>
                <a:spcPts val="800"/>
              </a:spcAft>
              <a:defRPr sz="1800"/>
            </a:pPr>
            <a:r>
              <a:t>•   LSTM Autoencoder</a:t>
            </a:r>
          </a:p>
          <a:p>
            <a:pPr>
              <a:spcAft>
                <a:spcPts val="800"/>
              </a:spcAft>
              <a:defRPr sz="1800"/>
            </a:pPr>
            <a:r>
              <a:t>•   Convolutional Autoencoder</a:t>
            </a:r>
          </a:p>
          <a:p>
            <a:pPr>
              <a:spcAft>
                <a:spcPts val="800"/>
              </a:spcAft>
              <a:defRPr sz="1800"/>
            </a:pPr>
            <a:r>
              <a:t>• </a:t>
            </a:r>
          </a:p>
          <a:p>
            <a:pPr>
              <a:spcAft>
                <a:spcPts val="800"/>
              </a:spcAft>
              <a:defRPr sz="1800"/>
            </a:pPr>
            <a:r>
              <a:t>• Post-processing:</a:t>
            </a:r>
          </a:p>
          <a:p>
            <a:pPr>
              <a:spcAft>
                <a:spcPts val="800"/>
              </a:spcAft>
              <a:defRPr sz="1800"/>
            </a:pPr>
            <a:r>
              <a:t>•   HMM Classification Filter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10-Series: 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Optuna optimization with 50 trials per model</a:t>
            </a:r>
          </a:p>
          <a:p>
            <a:pPr>
              <a:spcAft>
                <a:spcPts val="1200"/>
              </a:spcAft>
              <a:defRPr sz="2200"/>
            </a:pPr>
            <a:r>
              <a:t>• Objective: Maximize weighted F1 score on validation set</a:t>
            </a:r>
          </a:p>
          <a:p>
            <a:pPr>
              <a:spcAft>
                <a:spcPts val="1200"/>
              </a:spcAft>
              <a:defRPr sz="2200"/>
            </a:pPr>
            <a:r>
              <a:t>• 50% training data sampling (preserving run structure)</a:t>
            </a:r>
          </a:p>
          <a:p>
            <a:pPr>
              <a:spcAft>
                <a:spcPts val="1200"/>
              </a:spcAft>
              <a:defRPr sz="2200"/>
            </a:pPr>
            <a:r>
              <a:t>• MedianPruner for early stopping of unpromising trials</a:t>
            </a:r>
          </a:p>
          <a:p>
            <a:pPr>
              <a:spcAft>
                <a:spcPts val="1200"/>
              </a:spcAft>
              <a:defRPr sz="2200"/>
            </a:pPr>
            <a:r>
              <a:t>• Total tuning time: ~49 hours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Hyperparameter Tuning Results (10-Series)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447" y="12801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Val F1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Tuning Time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0.9236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7h 28m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max_depth=6, lr=0.20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6h 37m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seq_len=39, layers=3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LSTM-FCN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0.9896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11h 1m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seq_len=40, dropout=0.44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8h 22m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d_model=32, 4 heads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TransKal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0.9878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12h 6m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Kalman Q=5e-5, R=0.02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0.9817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2h 34m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threshold=98%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Conv-AE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0.9937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1h 11m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No transformer needed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Hyperparameter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Optimal sequence length: 38-40 samples for all deep learning models</a:t>
            </a:r>
          </a:p>
          <a:p>
            <a:pPr>
              <a:spcAft>
                <a:spcPts val="1200"/>
              </a:spcAft>
              <a:defRPr sz="2200"/>
            </a:pPr>
            <a:r>
              <a:t>• Simpler architectures often outperformed complex ones</a:t>
            </a:r>
          </a:p>
          <a:p>
            <a:pPr>
              <a:spcAft>
                <a:spcPts val="1200"/>
              </a:spcAft>
              <a:defRPr sz="2200"/>
            </a:pPr>
            <a:r>
              <a:t>• Dropout varies significantly: LSTM (0.07) vs LSTM-FCN (0.44)</a:t>
            </a:r>
          </a:p>
          <a:p>
            <a:pPr>
              <a:spcAft>
                <a:spcPts val="1200"/>
              </a:spcAft>
              <a:defRPr sz="2200"/>
            </a:pPr>
            <a:r>
              <a:t>• Autoencoder threshold: ~98th percentile optimal for anomaly detection</a:t>
            </a:r>
          </a:p>
          <a:p>
            <a:pPr>
              <a:spcAft>
                <a:spcPts val="1200"/>
              </a:spcAft>
              <a:defRPr sz="2200"/>
            </a:pPr>
            <a:r>
              <a:t>• Conv-Autoencoder: Pure CNN beats CNN+Transformer hybrid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Final Model Training Results (20-Series)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95247" y="128016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(weighted)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LSTM-FCN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0.9937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26m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68m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99.14%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0.9914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TransKal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32m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93.91%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0.9416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40m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Conv-AE (binary)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&lt;1m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LSTM-AE (binary)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96.96%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0.9705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12m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Training Observations (20-Series)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Deep learning models (99%+) significantly outperform XGBoost (94%)</a:t>
            </a:r>
          </a:p>
          <a:p>
            <a:pPr>
              <a:spcAft>
                <a:spcPts val="1200"/>
              </a:spcAft>
              <a:defRPr sz="2200"/>
            </a:pPr>
            <a:r>
              <a:t>• LSTM-FCN achieves best multiclass accuracy (99.37%)</a:t>
            </a:r>
          </a:p>
          <a:p>
            <a:pPr>
              <a:spcAft>
                <a:spcPts val="1200"/>
              </a:spcAft>
              <a:defRPr sz="2200"/>
            </a:pPr>
            <a:r>
              <a:t>• Temporal models excel: sequence-based &gt; independent samples</a:t>
            </a:r>
          </a:p>
          <a:p>
            <a:pPr>
              <a:spcAft>
                <a:spcPts val="1200"/>
              </a:spcAft>
              <a:defRPr sz="2200"/>
            </a:pPr>
            <a:r>
              <a:t>• Some faults perfectly classified: Classes 6, 7, 14 achieve F1 = 1.0</a:t>
            </a:r>
          </a:p>
          <a:p>
            <a:pPr>
              <a:spcAft>
                <a:spcPts val="1200"/>
              </a:spcAft>
              <a:defRPr sz="2200"/>
            </a:pPr>
            <a:r>
              <a:t>• Challenging classes: Normal (0), Class 12, Class 18 have lower F1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30-Series: HMM Classification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Post-processing to exploit temporal consistency in predictions</a:t>
            </a:r>
          </a:p>
          <a:p>
            <a:pPr>
              <a:spcAft>
                <a:spcPts val="1200"/>
              </a:spcAft>
              <a:defRPr sz="2200"/>
            </a:pPr>
            <a:r>
              <a:t>• Uses confusion matrix as emission model P(observation | true_class)</a:t>
            </a:r>
          </a:p>
          <a:p>
            <a:pPr>
              <a:spcAft>
                <a:spcPts val="1200"/>
              </a:spcAft>
              <a:defRPr sz="2200"/>
            </a:pPr>
            <a:r>
              <a:t>• "Sticky" transition model assumes faults persist over time</a:t>
            </a:r>
          </a:p>
          <a:p>
            <a:pPr>
              <a:spcAft>
                <a:spcPts val="1200"/>
              </a:spcAft>
              <a:defRPr sz="2200"/>
            </a:pPr>
            <a:r>
              <a:t>• Stickiness parameter gamma tested: 0.70, 0.85, 0.95</a:t>
            </a:r>
          </a:p>
          <a:p>
            <a:pPr>
              <a:spcAft>
                <a:spcPts val="1200"/>
              </a:spcAft>
              <a:defRPr sz="2200"/>
            </a:pPr>
            <a:r>
              <a:t>• Resets at beginning of each simulation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HMM Filter Results (30-Series)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47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Raw Acc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gamma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Filtered Acc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Error Reduction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93.91%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95.90%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LSTM-FCN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1.2%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TransKal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99.08%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99.08%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HMM Filter: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XGBoost benefits significantly: 32.7% error reduction (+2% accuracy)</a:t>
            </a:r>
          </a:p>
          <a:p>
            <a:pPr>
              <a:spcAft>
                <a:spcPts val="1200"/>
              </a:spcAft>
              <a:defRPr sz="2200"/>
            </a:pPr>
            <a:r>
              <a:t>• Deep learning models: &lt;1.5% error reduction (minimal benefit)</a:t>
            </a:r>
          </a:p>
          <a:p>
            <a:pPr>
              <a:spcAft>
                <a:spcPts val="1200"/>
              </a:spcAft>
              <a:defRPr sz="2200"/>
            </a:pPr>
            <a:r>
              <a:t>• Reason: Deep learning already captures temporal patterns</a:t>
            </a:r>
          </a:p>
          <a:p>
            <a:pPr>
              <a:spcAft>
                <a:spcPts val="1200"/>
              </a:spcAft>
              <a:defRPr sz="2200"/>
            </a:pPr>
            <a:r>
              <a:t>• XGBoost treats samples independently -&gt; needs post-hoc smoothing</a:t>
            </a:r>
          </a:p>
          <a:p>
            <a:pPr>
              <a:spcAft>
                <a:spcPts val="1200"/>
              </a:spcAft>
              <a:defRPr sz="2200"/>
            </a:pPr>
            <a:r>
              <a:t>• Recommendation: Use HMM for XGBoost; skip for neural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40-Series: New Data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Critical test: Do models generalize to completely unseen data?</a:t>
            </a:r>
          </a:p>
          <a:p>
            <a:pPr>
              <a:spcAft>
                <a:spcPts val="1200"/>
              </a:spcAft>
              <a:defRPr sz="2200"/>
            </a:pPr>
            <a:r>
              <a:t>• Generated new dataset with tep-sim using different random seeds</a:t>
            </a:r>
          </a:p>
          <a:p>
            <a:pPr>
              <a:spcAft>
                <a:spcPts val="1200"/>
              </a:spcAft>
              <a:defRPr sz="2200"/>
            </a:pPr>
            <a:r>
              <a:t>• Same fault scenarios, same simulation parameters</a:t>
            </a:r>
          </a:p>
          <a:p>
            <a:pPr>
              <a:spcAft>
                <a:spcPts val="1200"/>
              </a:spcAft>
              <a:defRPr sz="2200"/>
            </a:pPr>
            <a:r>
              <a:t>• ~2M new multiclass samples, ~1.2M new binary samples</a:t>
            </a:r>
          </a:p>
          <a:p>
            <a:pPr>
              <a:spcAft>
                <a:spcPts val="1200"/>
              </a:spcAft>
              <a:defRPr sz="2200"/>
            </a:pPr>
            <a:r>
              <a:t>• Tests real-world deployment scenario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Generalization Results (40-Series)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03807" y="1280160"/>
          <a:ext cx="9784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Original Acc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New Data Acc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CNN-Transformer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99.20%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99.57%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+0.38%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LSTM-FCN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99.14%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98.91%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-0.23%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93.91%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89.40%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-4.51%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Poor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TransKal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99.09%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87.57%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-11.52%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Conv-AE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76.04%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-23.35%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Failed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Generalization: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CNN-Transformer is the ONLY model that improved on new data!</a:t>
            </a:r>
          </a:p>
          <a:p>
            <a:pPr>
              <a:spcAft>
                <a:spcPts val="1200"/>
              </a:spcAft>
              <a:defRPr sz="2200"/>
            </a:pPr>
            <a:r>
              <a:t>• Transformer attention learns robust, transferable patterns</a:t>
            </a:r>
          </a:p>
          <a:p>
            <a:pPr>
              <a:spcAft>
                <a:spcPts val="1200"/>
              </a:spcAft>
              <a:defRPr sz="2200"/>
            </a:pPr>
            <a:r>
              <a:t>• LSTM and LSTM-FCN show good robustness (&lt;0.5% drop)</a:t>
            </a:r>
          </a:p>
          <a:p>
            <a:pPr>
              <a:spcAft>
                <a:spcPts val="1200"/>
              </a:spcAft>
              <a:defRPr sz="2200"/>
            </a:pPr>
            <a:r>
              <a:t>• TransKal: Kalman parameters overfit to training distribution</a:t>
            </a:r>
          </a:p>
          <a:p>
            <a:pPr>
              <a:spcAft>
                <a:spcPts val="1200"/>
              </a:spcAft>
              <a:defRPr sz="2200"/>
            </a:pPr>
            <a:r>
              <a:t>• Conv-Autoencoder: Threshold highly dataset-specific (needs recalibration)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Final Model Rankings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47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New Data Acc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CNN-Transformer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99.57%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Best for deployment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LSTM-FCN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Good alternative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LSTM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98.91%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Simple, robust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XGBoost + HMM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~91%*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Interpretable option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TransKal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87.57%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Avoid (overfit)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Conv-AE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76.04%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Needs recalibration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Deep learning significantly outperforms classical ML (99% vs 94%)</a:t>
            </a:r>
          </a:p>
          <a:p>
            <a:pPr>
              <a:spcAft>
                <a:spcPts val="1200"/>
              </a:spcAft>
              <a:defRPr sz="2200"/>
            </a:pPr>
            <a:r>
              <a:t>• CNN-Transformer achieves best generalization (99.57% on new data)</a:t>
            </a:r>
          </a:p>
          <a:p>
            <a:pPr>
              <a:spcAft>
                <a:spcPts val="1200"/>
              </a:spcAft>
              <a:defRPr sz="2200"/>
            </a:pPr>
            <a:r>
              <a:t>• Temporal modeling is critical: sequence-based models excel</a:t>
            </a:r>
          </a:p>
          <a:p>
            <a:pPr>
              <a:spcAft>
                <a:spcPts val="1200"/>
              </a:spcAft>
              <a:defRPr sz="2200"/>
            </a:pPr>
            <a:r>
              <a:t>• HMM filtering helps XGBoost but not deep learning</a:t>
            </a:r>
          </a:p>
          <a:p>
            <a:pPr>
              <a:spcAft>
                <a:spcPts val="1200"/>
              </a:spcAft>
              <a:defRPr sz="2200"/>
            </a:pPr>
            <a:r>
              <a:t>• Autoencoder thresholds require recalibration for new conditions</a:t>
            </a:r>
          </a:p>
          <a:p>
            <a:pPr>
              <a:spcAft>
                <a:spcPts val="1200"/>
              </a:spcAft>
              <a:defRPr sz="2200"/>
            </a:pPr>
            <a:r>
              <a:t>• TransKal's Kalman filter can overfit to training 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Practical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For multiclass fault classification: CNN-Transformer or LSTM-FCN</a:t>
            </a:r>
          </a:p>
          <a:p>
            <a:pPr>
              <a:spcAft>
                <a:spcPts val="1200"/>
              </a:spcAft>
              <a:defRPr sz="2200"/>
            </a:pPr>
            <a:r>
              <a:t>• For anomaly detection: LSTM Autoencoder (more robust than Conv-AE)</a:t>
            </a:r>
          </a:p>
          <a:p>
            <a:pPr>
              <a:spcAft>
                <a:spcPts val="1200"/>
              </a:spcAft>
              <a:defRPr sz="2200"/>
            </a:pPr>
            <a:r>
              <a:t>• For interpretability: XGBoost with HMM post-processing</a:t>
            </a:r>
          </a:p>
          <a:p>
            <a:pPr>
              <a:spcAft>
                <a:spcPts val="1200"/>
              </a:spcAft>
              <a:defRPr sz="2200"/>
            </a:pPr>
            <a:r>
              <a:t>• Always validate on held-out data from independent conditions</a:t>
            </a:r>
          </a:p>
          <a:p>
            <a:pPr>
              <a:spcAft>
                <a:spcPts val="1200"/>
              </a:spcAft>
              <a:defRPr sz="2200"/>
            </a:pPr>
            <a:r>
              <a:t>• Recalibrate autoencoder thresholds when process conditions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Limitations:</a:t>
            </a:r>
          </a:p>
          <a:p>
            <a:pPr>
              <a:spcAft>
                <a:spcPts val="800"/>
              </a:spcAft>
              <a:defRPr sz="1800"/>
            </a:pPr>
            <a:r>
              <a:t>•   Perfectly balanced (unrealistic)</a:t>
            </a:r>
          </a:p>
          <a:p>
            <a:pPr>
              <a:spcAft>
                <a:spcPts val="800"/>
              </a:spcAft>
              <a:defRPr sz="1800"/>
            </a:pPr>
            <a:r>
              <a:t>•   No imbalanced evaluation</a:t>
            </a:r>
          </a:p>
          <a:p>
            <a:pPr>
              <a:spcAft>
                <a:spcPts val="800"/>
              </a:spcAft>
              <a:defRPr sz="1800"/>
            </a:pPr>
            <a:r>
              <a:t>•   17 fault types only</a:t>
            </a:r>
          </a:p>
          <a:p>
            <a:pPr>
              <a:spcAft>
                <a:spcPts val="800"/>
              </a:spcAft>
              <a:defRPr sz="1800"/>
            </a:pPr>
            <a:r>
              <a:t>•   No novel fault detection</a:t>
            </a:r>
          </a:p>
          <a:p>
            <a:pPr>
              <a:spcAft>
                <a:spcPts val="800"/>
              </a:spcAft>
              <a:defRPr sz="1800"/>
            </a:pPr>
            <a:r>
              <a:t>•   Sample-level, not time-series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Future Work:</a:t>
            </a:r>
          </a:p>
          <a:p>
            <a:pPr>
              <a:spcAft>
                <a:spcPts val="800"/>
              </a:spcAft>
              <a:defRPr sz="1800"/>
            </a:pPr>
            <a:r>
              <a:t>•   Imbalanced test evaluation</a:t>
            </a:r>
          </a:p>
          <a:p>
            <a:pPr>
              <a:spcAft>
                <a:spcPts val="800"/>
              </a:spcAft>
              <a:defRPr sz="1800"/>
            </a:pPr>
            <a:r>
              <a:t>•   Detection delay metrics</a:t>
            </a:r>
          </a:p>
          <a:p>
            <a:pPr>
              <a:spcAft>
                <a:spcPts val="800"/>
              </a:spcAft>
              <a:defRPr sz="1800"/>
            </a:pPr>
            <a:r>
              <a:t>•   Novel fault generalization</a:t>
            </a:r>
          </a:p>
          <a:p>
            <a:pPr>
              <a:spcAft>
                <a:spcPts val="800"/>
              </a:spcAft>
              <a:defRPr sz="1800"/>
            </a:pPr>
            <a:r>
              <a:t>•   Class-wise autoencoder ensemble</a:t>
            </a:r>
          </a:p>
          <a:p>
            <a:pPr>
              <a:spcAft>
                <a:spcPts val="800"/>
              </a:spcAft>
              <a:defRPr sz="1800"/>
            </a:pPr>
            <a:r>
              <a:t>•   Hierarchical mixture of experts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Data: Harvard Dataverse (Rieth et al., 2017)</a:t>
            </a:r>
          </a:p>
          <a:p>
            <a:pPr>
              <a:spcAft>
                <a:spcPts val="1200"/>
              </a:spcAft>
              <a:defRPr sz="2200"/>
            </a:pPr>
            <a:r>
              <a:t>• Original TEP: Downs &amp; Vogel (1993)</a:t>
            </a:r>
          </a:p>
          <a:p>
            <a:pPr>
              <a:spcAft>
                <a:spcPts val="1200"/>
              </a:spcAft>
              <a:defRPr sz="2200"/>
            </a:pPr>
            <a:r>
              <a:t>• Computing: Carnegie Mellon University</a:t>
            </a:r>
          </a:p>
          <a:p>
            <a:pPr>
              <a:spcAft>
                <a:spcPts val="1200"/>
              </a:spcAft>
              <a:defRPr sz="2200"/>
            </a:pPr>
            <a:r>
              <a:t>• Contact: jkitchin@andrew.cmu.edu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